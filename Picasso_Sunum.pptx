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" dt="2026-10-13T18:06:42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39C55-1080-4E2B-B2D0-EA6E6E014ADD}" type="datetimeFigureOut"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F13E5-916D-41A8-BFC2-51DA781FE9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Kendini tanıt ve konuyu söyle. Arkadaki tablo Ağlayan Kadın (1937).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Hayatının önemli yılları. Alıntıyı vurgula: akademik resmi çok erken öğrendi, sonra hayatı boyunca bir çocuğun özgürlüğünü aradı.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Dönemin sanatçılarını yeni arayışlara iten dört gelişme. Soldaki soruyu dinleyicilere yönelt.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Cézanne'ın geometrik bakışı Kübizm'e, Afrika maskeleri Avignonlu Kızlar'a ilham verdi. Sağdaki Yaşlı Gitarist'te El Greco etkisi.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Picasso'nun sanat anlayışı. Soldaki görsel Üç Müzisyen'den bir detay.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Picasso hiçbir zaman tek bir stilde kalmadı. Yetmiş iki yıllık sanat hayatı yedi döneme ayrılır; her dönemin altında o dönemi en iyi temsil eden eser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Kübizmi bir bardak örneğiyle anlat: önden bir gövde, üstten bir halka görürüz; Kübist ressam hepsini aynı resme koyar. Sağdaki eser Avignonlu Kızlar.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Boğa Başı heykeli en ilginç örnek: bir bisiklet selesi ve gidonu birleşince boğa başına dönüşüyor.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meşhur eser, kronolojik sırayla ve bugün bulundukları müzelerle.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duygusal doruk noktası. Renksiz olması bilinçli: bir gazete fotoğrafı gibi görünür. Boyutunu vurgula: neredeyse bir duvar büyüklüğünde.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bölümüne geçiş. Videolarda ressamlar bu tabloların reprodüksiyonlarını yapıyor; görüntüler hızlandırılmış.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kendiliğinden oynar. Önce Yaşlı Gitarist belirir, 2 saniye sonra videosu başlar; video bitince sıra Üç Müzisyen'e, sonra Ağlayan Kadın'a geçer. Toplam yaklaşık 1 dakika 48 saniye. Video otomatik başlamazsa ekrana bir kez tıklaman yeterli.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Sayılarla üretkenliğini göster, ardından modern sanata etkisini özetle.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Kapanış. Soruları 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I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Y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DE_KOY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img" descr="/home/claude/m2/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a1_k"/>
          <p:cNvSpPr txBox="1"/>
          <p:nvPr/>
        </p:nvSpPr>
        <p:spPr>
          <a:xfrm>
            <a:off x="731520" y="685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SANATLAR DERSİ</a:t>
            </a:r>
            <a:endParaRPr lang="en-US" sz="1100" dirty="0"/>
          </a:p>
        </p:txBody>
      </p:sp>
      <p:sp>
        <p:nvSpPr>
          <p:cNvPr id="4" name="a1_t"/>
          <p:cNvSpPr txBox="1"/>
          <p:nvPr/>
        </p:nvSpPr>
        <p:spPr>
          <a:xfrm>
            <a:off x="685800" y="18288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8000"/>
              </a:lnSpc>
              <a:buNone/>
            </a:pPr>
            <a:r>
              <a:rPr lang="en-US" sz="8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Pablo</a:t>
            </a:r>
            <a:endParaRPr lang="en-US" sz="80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8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</a:t>
            </a:r>
            <a:endParaRPr lang="en-US" sz="8000" dirty="0"/>
          </a:p>
        </p:txBody>
      </p:sp>
      <p:sp>
        <p:nvSpPr>
          <p:cNvPr id="5" name="a2_s"/>
          <p:cNvSpPr txBox="1"/>
          <p:nvPr/>
        </p:nvSpPr>
        <p:spPr>
          <a:xfrm>
            <a:off x="731520" y="4343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Kuralları yeniden çizen adam</a:t>
            </a:r>
            <a:endParaRPr lang="en-US" sz="2200" dirty="0"/>
          </a:p>
        </p:txBody>
      </p:sp>
      <p:sp>
        <p:nvSpPr>
          <p:cNvPr id="6" name="a2_y"/>
          <p:cNvSpPr txBox="1"/>
          <p:nvPr/>
        </p:nvSpPr>
        <p:spPr>
          <a:xfrm>
            <a:off x="73152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1881 – 1973</a:t>
            </a:r>
            <a:endParaRPr lang="en-US" sz="1600" dirty="0"/>
          </a:p>
        </p:txBody>
      </p:sp>
      <p:sp>
        <p:nvSpPr>
          <p:cNvPr id="7" name="a3_h"/>
          <p:cNvSpPr txBox="1"/>
          <p:nvPr/>
        </p:nvSpPr>
        <p:spPr>
          <a:xfrm>
            <a:off x="731520" y="5897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Hazırlayan</a:t>
            </a:r>
            <a:r>
              <a:rPr lang="en-US" sz="12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: Ömer Faruk </a:t>
            </a:r>
            <a:r>
              <a:rPr lang="en-US" sz="12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Yalniz</a:t>
            </a:r>
            <a:endParaRPr lang="en-US" sz="1200" dirty="0" err="1">
              <a:solidFill>
                <a:schemeClr val="bg2"/>
              </a:solidFill>
              <a:ea typeface="Calibri"/>
              <a:cs typeface="Calibri"/>
            </a:endParaRPr>
          </a:p>
        </p:txBody>
      </p:sp>
      <p:sp>
        <p:nvSpPr>
          <p:cNvPr id="8" name="a3_c"/>
          <p:cNvSpPr txBox="1"/>
          <p:nvPr/>
        </p:nvSpPr>
        <p:spPr>
          <a:xfrm>
            <a:off x="731520" y="6217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Kapak görseli: Ağlayan Kadın, 1937 · Tate, Londra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HAYATI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 kimdir?</a:t>
            </a:r>
            <a:endParaRPr lang="en-US" sz="3600" dirty="0"/>
          </a:p>
        </p:txBody>
      </p:sp>
      <p:sp>
        <p:nvSpPr>
          <p:cNvPr id="4" name="a1_r0"/>
          <p:cNvSpPr/>
          <p:nvPr/>
        </p:nvSpPr>
        <p:spPr>
          <a:xfrm>
            <a:off x="640080" y="1874520"/>
            <a:ext cx="5486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" name="a1_y0"/>
          <p:cNvSpPr txBox="1"/>
          <p:nvPr/>
        </p:nvSpPr>
        <p:spPr>
          <a:xfrm>
            <a:off x="640080" y="20391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1881</a:t>
            </a:r>
            <a:endParaRPr lang="en-US" sz="2400" dirty="0"/>
          </a:p>
        </p:txBody>
      </p:sp>
      <p:sp>
        <p:nvSpPr>
          <p:cNvPr id="6" name="a1_t0"/>
          <p:cNvSpPr txBox="1"/>
          <p:nvPr/>
        </p:nvSpPr>
        <p:spPr>
          <a:xfrm>
            <a:off x="192024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İspanya'nın Malaga şehrinde doğdu. Babası bir resim öğretmeniydi.</a:t>
            </a:r>
            <a:endParaRPr lang="en-US" sz="1500" dirty="0"/>
          </a:p>
        </p:txBody>
      </p:sp>
      <p:sp>
        <p:nvSpPr>
          <p:cNvPr id="7" name="a2_r1"/>
          <p:cNvSpPr/>
          <p:nvPr/>
        </p:nvSpPr>
        <p:spPr>
          <a:xfrm>
            <a:off x="640080" y="2743200"/>
            <a:ext cx="5486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a2_y1"/>
          <p:cNvSpPr txBox="1"/>
          <p:nvPr/>
        </p:nvSpPr>
        <p:spPr>
          <a:xfrm>
            <a:off x="640080" y="29077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1895</a:t>
            </a:r>
            <a:endParaRPr lang="en-US" sz="2400" dirty="0"/>
          </a:p>
        </p:txBody>
      </p:sp>
      <p:sp>
        <p:nvSpPr>
          <p:cNvPr id="9" name="a2_t1"/>
          <p:cNvSpPr txBox="1"/>
          <p:nvPr/>
        </p:nvSpPr>
        <p:spPr>
          <a:xfrm>
            <a:off x="1920240" y="2926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Ailesiyle Barcelona'ya taşındı ve 14 yaşında sanat okuluna girdi.</a:t>
            </a:r>
            <a:endParaRPr lang="en-US" sz="1500" dirty="0"/>
          </a:p>
        </p:txBody>
      </p:sp>
      <p:sp>
        <p:nvSpPr>
          <p:cNvPr id="10" name="a3_r2"/>
          <p:cNvSpPr/>
          <p:nvPr/>
        </p:nvSpPr>
        <p:spPr>
          <a:xfrm>
            <a:off x="640080" y="3611880"/>
            <a:ext cx="5486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a3_y2"/>
          <p:cNvSpPr txBox="1"/>
          <p:nvPr/>
        </p:nvSpPr>
        <p:spPr>
          <a:xfrm>
            <a:off x="640080" y="37764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1897</a:t>
            </a:r>
            <a:endParaRPr lang="en-US" sz="2400" dirty="0"/>
          </a:p>
        </p:txBody>
      </p:sp>
      <p:sp>
        <p:nvSpPr>
          <p:cNvPr id="12" name="a3_t2"/>
          <p:cNvSpPr txBox="1"/>
          <p:nvPr/>
        </p:nvSpPr>
        <p:spPr>
          <a:xfrm>
            <a:off x="1920240" y="3794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Madrid'deki Kraliyet Sanat Akademisi'nde eğitim aldı.</a:t>
            </a:r>
            <a:endParaRPr lang="en-US" sz="1500" dirty="0"/>
          </a:p>
        </p:txBody>
      </p:sp>
      <p:sp>
        <p:nvSpPr>
          <p:cNvPr id="13" name="a4_r3"/>
          <p:cNvSpPr/>
          <p:nvPr/>
        </p:nvSpPr>
        <p:spPr>
          <a:xfrm>
            <a:off x="640080" y="4480560"/>
            <a:ext cx="5486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a4_y3"/>
          <p:cNvSpPr txBox="1"/>
          <p:nvPr/>
        </p:nvSpPr>
        <p:spPr>
          <a:xfrm>
            <a:off x="640080" y="46451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1904</a:t>
            </a:r>
            <a:endParaRPr lang="en-US" sz="2400" dirty="0"/>
          </a:p>
        </p:txBody>
      </p:sp>
      <p:sp>
        <p:nvSpPr>
          <p:cNvPr id="15" name="a4_t3"/>
          <p:cNvSpPr txBox="1"/>
          <p:nvPr/>
        </p:nvSpPr>
        <p:spPr>
          <a:xfrm>
            <a:off x="1920240" y="46634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Paris'e yerleşti; hayatının geri kalanını Fransa'da geçirdi.</a:t>
            </a:r>
            <a:endParaRPr lang="en-US" sz="1500" dirty="0"/>
          </a:p>
        </p:txBody>
      </p:sp>
      <p:sp>
        <p:nvSpPr>
          <p:cNvPr id="16" name="a5_r4"/>
          <p:cNvSpPr/>
          <p:nvPr/>
        </p:nvSpPr>
        <p:spPr>
          <a:xfrm>
            <a:off x="640080" y="5349240"/>
            <a:ext cx="5486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a5_y4"/>
          <p:cNvSpPr txBox="1"/>
          <p:nvPr/>
        </p:nvSpPr>
        <p:spPr>
          <a:xfrm>
            <a:off x="640080" y="5513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en-US" sz="2400" dirty="0"/>
          </a:p>
        </p:txBody>
      </p:sp>
      <p:sp>
        <p:nvSpPr>
          <p:cNvPr id="18" name="a5_t4"/>
          <p:cNvSpPr txBox="1"/>
          <p:nvPr/>
        </p:nvSpPr>
        <p:spPr>
          <a:xfrm>
            <a:off x="1920240" y="55321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yaşında Fransa'nın Mougins kasabasında öldü.</a:t>
            </a:r>
            <a:endParaRPr lang="en-US" sz="1500" dirty="0"/>
          </a:p>
        </p:txBody>
      </p:sp>
      <p:sp>
        <p:nvSpPr>
          <p:cNvPr id="19" name="a5_rl"/>
          <p:cNvSpPr/>
          <p:nvPr/>
        </p:nvSpPr>
        <p:spPr>
          <a:xfrm>
            <a:off x="640080" y="6217920"/>
            <a:ext cx="5486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a6_m"/>
          <p:cNvSpPr txBox="1"/>
          <p:nvPr/>
        </p:nvSpPr>
        <p:spPr>
          <a:xfrm>
            <a:off x="69494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600" dirty="0"/>
          </a:p>
        </p:txBody>
      </p:sp>
      <p:sp>
        <p:nvSpPr>
          <p:cNvPr id="21" name="a6_q"/>
          <p:cNvSpPr txBox="1"/>
          <p:nvPr/>
        </p:nvSpPr>
        <p:spPr>
          <a:xfrm>
            <a:off x="6995160" y="256032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Raphael gibi çizmeyi dört yılda öğrendim; bir çocuk gibi çizmeyi öğrenmem ise bütün ömrümü aldı.</a:t>
            </a:r>
            <a:endParaRPr lang="en-US" sz="2800" dirty="0"/>
          </a:p>
        </p:txBody>
      </p:sp>
      <p:sp>
        <p:nvSpPr>
          <p:cNvPr id="22" name="a7_a"/>
          <p:cNvSpPr txBox="1"/>
          <p:nvPr/>
        </p:nvSpPr>
        <p:spPr>
          <a:xfrm>
            <a:off x="6995160" y="4983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PICASSO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YAŞADIĞI DÖNEM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Değişen bir dünyada sanat</a:t>
            </a:r>
            <a:endParaRPr lang="en-US" sz="3600" dirty="0"/>
          </a:p>
        </p:txBody>
      </p:sp>
      <p:sp>
        <p:nvSpPr>
          <p:cNvPr id="4" name="a1_q"/>
          <p:cNvSpPr txBox="1"/>
          <p:nvPr/>
        </p:nvSpPr>
        <p:spPr>
          <a:xfrm>
            <a:off x="640080" y="196596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Fotoğraf gerçeği kopyalamayı üstlenince resim yeni bir soru sordu: Ne görüyoruz ve nasıl görüyoruz?</a:t>
            </a:r>
            <a:endParaRPr lang="en-US" sz="2800" dirty="0"/>
          </a:p>
        </p:txBody>
      </p:sp>
      <p:sp>
        <p:nvSpPr>
          <p:cNvPr id="5" name="a2_r0"/>
          <p:cNvSpPr/>
          <p:nvPr/>
        </p:nvSpPr>
        <p:spPr>
          <a:xfrm>
            <a:off x="5852160" y="1874520"/>
            <a:ext cx="5696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6" name="a2_n0"/>
          <p:cNvSpPr txBox="1"/>
          <p:nvPr/>
        </p:nvSpPr>
        <p:spPr>
          <a:xfrm>
            <a:off x="585216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a2_h0"/>
          <p:cNvSpPr txBox="1"/>
          <p:nvPr/>
        </p:nvSpPr>
        <p:spPr>
          <a:xfrm>
            <a:off x="6492240" y="20299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Sanatın başkenti Paris</a:t>
            </a:r>
            <a:endParaRPr lang="en-US" sz="1800" dirty="0"/>
          </a:p>
        </p:txBody>
      </p:sp>
      <p:sp>
        <p:nvSpPr>
          <p:cNvPr id="8" name="a2_d0"/>
          <p:cNvSpPr txBox="1"/>
          <p:nvPr/>
        </p:nvSpPr>
        <p:spPr>
          <a:xfrm>
            <a:off x="6492240" y="2404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yüzyılın başında dünyanın dört bir yanından sanatçılar Paris'te buluştu.</a:t>
            </a:r>
            <a:endParaRPr lang="en-US" sz="1400" dirty="0"/>
          </a:p>
        </p:txBody>
      </p:sp>
      <p:sp>
        <p:nvSpPr>
          <p:cNvPr id="9" name="a3_r1"/>
          <p:cNvSpPr/>
          <p:nvPr/>
        </p:nvSpPr>
        <p:spPr>
          <a:xfrm>
            <a:off x="5852160" y="2953512"/>
            <a:ext cx="5696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a3_n1"/>
          <p:cNvSpPr txBox="1"/>
          <p:nvPr/>
        </p:nvSpPr>
        <p:spPr>
          <a:xfrm>
            <a:off x="5852160" y="31363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a3_h1"/>
          <p:cNvSpPr txBox="1"/>
          <p:nvPr/>
        </p:nvSpPr>
        <p:spPr>
          <a:xfrm>
            <a:off x="6492240" y="3108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Fotoğrafın yükselişi</a:t>
            </a:r>
            <a:endParaRPr lang="en-US" sz="1800" dirty="0"/>
          </a:p>
        </p:txBody>
      </p:sp>
      <p:sp>
        <p:nvSpPr>
          <p:cNvPr id="12" name="a3_d1"/>
          <p:cNvSpPr txBox="1"/>
          <p:nvPr/>
        </p:nvSpPr>
        <p:spPr>
          <a:xfrm>
            <a:off x="64922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Gerçeği birebir kopyalamak artık ressamın görevi olmaktan çıktı.</a:t>
            </a:r>
            <a:endParaRPr lang="en-US" sz="1400" dirty="0"/>
          </a:p>
        </p:txBody>
      </p:sp>
      <p:sp>
        <p:nvSpPr>
          <p:cNvPr id="13" name="a4_r2"/>
          <p:cNvSpPr/>
          <p:nvPr/>
        </p:nvSpPr>
        <p:spPr>
          <a:xfrm>
            <a:off x="5852160" y="4032504"/>
            <a:ext cx="5696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a4_n2"/>
          <p:cNvSpPr txBox="1"/>
          <p:nvPr/>
        </p:nvSpPr>
        <p:spPr>
          <a:xfrm>
            <a:off x="5852160" y="42153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a4_h2"/>
          <p:cNvSpPr txBox="1"/>
          <p:nvPr/>
        </p:nvSpPr>
        <p:spPr>
          <a:xfrm>
            <a:off x="6492240" y="4187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ve makine çağı</a:t>
            </a:r>
            <a:endParaRPr lang="en-US" sz="1800" dirty="0"/>
          </a:p>
        </p:txBody>
      </p:sp>
      <p:sp>
        <p:nvSpPr>
          <p:cNvPr id="16" name="a4_d2"/>
          <p:cNvSpPr txBox="1"/>
          <p:nvPr/>
        </p:nvSpPr>
        <p:spPr>
          <a:xfrm>
            <a:off x="6492240" y="45628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Elektrik, otomobil ve sinema, dünyaya bakış biçimini hızla değiştirdi.</a:t>
            </a:r>
            <a:endParaRPr lang="en-US" sz="1400" dirty="0"/>
          </a:p>
        </p:txBody>
      </p:sp>
      <p:sp>
        <p:nvSpPr>
          <p:cNvPr id="17" name="a5_r3"/>
          <p:cNvSpPr/>
          <p:nvPr/>
        </p:nvSpPr>
        <p:spPr>
          <a:xfrm>
            <a:off x="5852160" y="5111496"/>
            <a:ext cx="5696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a5_n3"/>
          <p:cNvSpPr txBox="1"/>
          <p:nvPr/>
        </p:nvSpPr>
        <p:spPr>
          <a:xfrm>
            <a:off x="5852160" y="52943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a5_h3"/>
          <p:cNvSpPr txBox="1"/>
          <p:nvPr/>
        </p:nvSpPr>
        <p:spPr>
          <a:xfrm>
            <a:off x="6492240" y="5266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Savaşlar</a:t>
            </a:r>
            <a:endParaRPr lang="en-US" sz="1800" dirty="0"/>
          </a:p>
        </p:txBody>
      </p:sp>
      <p:sp>
        <p:nvSpPr>
          <p:cNvPr id="20" name="a5_d3"/>
          <p:cNvSpPr txBox="1"/>
          <p:nvPr/>
        </p:nvSpPr>
        <p:spPr>
          <a:xfrm>
            <a:off x="6492240" y="56418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dünya savaşı ve İspanya İç Savaşı, Picasso'nun eserlerine doğrudan yansıdı.</a:t>
            </a:r>
            <a:endParaRPr lang="en-US" sz="1400" dirty="0"/>
          </a:p>
        </p:txBody>
      </p:sp>
      <p:sp>
        <p:nvSpPr>
          <p:cNvPr id="21" name="a5_rl"/>
          <p:cNvSpPr/>
          <p:nvPr/>
        </p:nvSpPr>
        <p:spPr>
          <a:xfrm>
            <a:off x="5852160" y="6190488"/>
            <a:ext cx="569671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ETKILENDIĞI KAYNAKLAR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Picasso'yu besleyenler</a:t>
            </a:r>
            <a:endParaRPr lang="en-US" sz="3600" dirty="0"/>
          </a:p>
        </p:txBody>
      </p:sp>
      <p:pic>
        <p:nvPicPr>
          <p:cNvPr id="4" name="a0_img" descr="/home/claude/m2/guit_t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5" name="a1_n0"/>
          <p:cNvSpPr txBox="1"/>
          <p:nvPr/>
        </p:nvSpPr>
        <p:spPr>
          <a:xfrm>
            <a:off x="640080" y="18562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a1_h0"/>
          <p:cNvSpPr txBox="1"/>
          <p:nvPr/>
        </p:nvSpPr>
        <p:spPr>
          <a:xfrm>
            <a:off x="1234440" y="18288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Cézanne</a:t>
            </a:r>
            <a:endParaRPr lang="en-US" sz="1800" dirty="0"/>
          </a:p>
        </p:txBody>
      </p:sp>
      <p:sp>
        <p:nvSpPr>
          <p:cNvPr id="7" name="a1_d0"/>
          <p:cNvSpPr txBox="1"/>
          <p:nvPr/>
        </p:nvSpPr>
        <p:spPr>
          <a:xfrm>
            <a:off x="1234440" y="21762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Doğayı silindir, küre ve koni gibi geometrik biçimlerle görme fikri.</a:t>
            </a:r>
            <a:endParaRPr lang="en-US" sz="1400" dirty="0"/>
          </a:p>
        </p:txBody>
      </p:sp>
      <p:sp>
        <p:nvSpPr>
          <p:cNvPr id="8" name="a2_n1"/>
          <p:cNvSpPr txBox="1"/>
          <p:nvPr/>
        </p:nvSpPr>
        <p:spPr>
          <a:xfrm>
            <a:off x="640080" y="26426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a2_h1"/>
          <p:cNvSpPr txBox="1"/>
          <p:nvPr/>
        </p:nvSpPr>
        <p:spPr>
          <a:xfrm>
            <a:off x="1234440" y="261518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Greco</a:t>
            </a:r>
            <a:endParaRPr lang="en-US" sz="1800" dirty="0"/>
          </a:p>
        </p:txBody>
      </p:sp>
      <p:sp>
        <p:nvSpPr>
          <p:cNvPr id="10" name="a2_d1"/>
          <p:cNvSpPr txBox="1"/>
          <p:nvPr/>
        </p:nvSpPr>
        <p:spPr>
          <a:xfrm>
            <a:off x="1234440" y="29626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Uzatılmış, ruhani figürler ve yoğun duygu.</a:t>
            </a:r>
            <a:endParaRPr lang="en-US" sz="1400" dirty="0"/>
          </a:p>
        </p:txBody>
      </p:sp>
      <p:sp>
        <p:nvSpPr>
          <p:cNvPr id="11" name="a3_n2"/>
          <p:cNvSpPr txBox="1"/>
          <p:nvPr/>
        </p:nvSpPr>
        <p:spPr>
          <a:xfrm>
            <a:off x="64008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a3_h2"/>
          <p:cNvSpPr txBox="1"/>
          <p:nvPr/>
        </p:nvSpPr>
        <p:spPr>
          <a:xfrm>
            <a:off x="1234440" y="340156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Post-Empresyonistler</a:t>
            </a:r>
            <a:endParaRPr lang="en-US" sz="1800" dirty="0"/>
          </a:p>
        </p:txBody>
      </p:sp>
      <p:sp>
        <p:nvSpPr>
          <p:cNvPr id="13" name="a3_d2"/>
          <p:cNvSpPr txBox="1"/>
          <p:nvPr/>
        </p:nvSpPr>
        <p:spPr>
          <a:xfrm>
            <a:off x="1234440" y="3749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Gogh, Gauguin ve Toulouse-Lautrec'in cesur renk ve çizgileri.</a:t>
            </a:r>
            <a:endParaRPr lang="en-US" sz="1400" dirty="0"/>
          </a:p>
        </p:txBody>
      </p:sp>
      <p:sp>
        <p:nvSpPr>
          <p:cNvPr id="14" name="a4_n3"/>
          <p:cNvSpPr txBox="1"/>
          <p:nvPr/>
        </p:nvSpPr>
        <p:spPr>
          <a:xfrm>
            <a:off x="640080" y="42153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a4_h3"/>
          <p:cNvSpPr txBox="1"/>
          <p:nvPr/>
        </p:nvSpPr>
        <p:spPr>
          <a:xfrm>
            <a:off x="1234440" y="418795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Afrika ve İber heykelleri</a:t>
            </a:r>
            <a:endParaRPr lang="en-US" sz="1800" dirty="0"/>
          </a:p>
        </p:txBody>
      </p:sp>
      <p:sp>
        <p:nvSpPr>
          <p:cNvPr id="16" name="a4_d3"/>
          <p:cNvSpPr txBox="1"/>
          <p:nvPr/>
        </p:nvSpPr>
        <p:spPr>
          <a:xfrm>
            <a:off x="1234440" y="45354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Sade, maske benzeri yüzler ve güçlü geometrik formlar.</a:t>
            </a:r>
            <a:endParaRPr lang="en-US" sz="1400" dirty="0"/>
          </a:p>
        </p:txBody>
      </p:sp>
      <p:sp>
        <p:nvSpPr>
          <p:cNvPr id="17" name="a5_n4"/>
          <p:cNvSpPr txBox="1"/>
          <p:nvPr/>
        </p:nvSpPr>
        <p:spPr>
          <a:xfrm>
            <a:off x="640080" y="5001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a5_h4"/>
          <p:cNvSpPr txBox="1"/>
          <p:nvPr/>
        </p:nvSpPr>
        <p:spPr>
          <a:xfrm>
            <a:off x="1234440" y="497433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Sürrealizm ve Neoklasisizm</a:t>
            </a:r>
            <a:endParaRPr lang="en-US" sz="1800" dirty="0"/>
          </a:p>
        </p:txBody>
      </p:sp>
      <p:sp>
        <p:nvSpPr>
          <p:cNvPr id="19" name="a5_d4"/>
          <p:cNvSpPr txBox="1"/>
          <p:nvPr/>
        </p:nvSpPr>
        <p:spPr>
          <a:xfrm>
            <a:off x="1234440" y="5321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1920'ler ve 30'larda rüya benzeri biçimler ve klasik figürlere dönüş.</a:t>
            </a:r>
            <a:endParaRPr lang="en-US" sz="1400" dirty="0"/>
          </a:p>
        </p:txBody>
      </p:sp>
      <p:sp>
        <p:nvSpPr>
          <p:cNvPr id="20" name="a6_cap"/>
          <p:cNvSpPr txBox="1"/>
          <p:nvPr/>
        </p:nvSpPr>
        <p:spPr>
          <a:xfrm>
            <a:off x="640080" y="5989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Yaşlı Gitarist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1903–1904 · Art Institute of Chicago. Uzun, ince ve kederli figürde El Greco'nun izi açıkça görülür.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img" descr="/home/claude/m2/mus_lef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37760" cy="6858000"/>
          </a:xfrm>
          <a:prstGeom prst="rect">
            <a:avLst/>
          </a:prstGeom>
        </p:spPr>
      </p:pic>
      <p:sp>
        <p:nvSpPr>
          <p:cNvPr id="3" name="a0_k"/>
          <p:cNvSpPr txBox="1"/>
          <p:nvPr/>
        </p:nvSpPr>
        <p:spPr>
          <a:xfrm>
            <a:off x="55778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DÜŞÜNCE BİÇİMİ</a:t>
            </a:r>
            <a:endParaRPr lang="en-US" sz="1100" dirty="0"/>
          </a:p>
        </p:txBody>
      </p:sp>
      <p:sp>
        <p:nvSpPr>
          <p:cNvPr id="4" name="a1_q"/>
          <p:cNvSpPr txBox="1"/>
          <p:nvPr/>
        </p:nvSpPr>
        <p:spPr>
          <a:xfrm>
            <a:off x="5577840" y="9144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“Gördüğümü değil, düşündüğümü çizerim.”</a:t>
            </a:r>
            <a:endParaRPr lang="en-US" sz="4000" dirty="0"/>
          </a:p>
        </p:txBody>
      </p:sp>
      <p:sp>
        <p:nvSpPr>
          <p:cNvPr id="5" name="a2_r0"/>
          <p:cNvSpPr/>
          <p:nvPr/>
        </p:nvSpPr>
        <p:spPr>
          <a:xfrm>
            <a:off x="5577840" y="2880360"/>
            <a:ext cx="5943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6" name="a2_h0"/>
          <p:cNvSpPr txBox="1"/>
          <p:nvPr/>
        </p:nvSpPr>
        <p:spPr>
          <a:xfrm>
            <a:off x="557784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açılı bakış</a:t>
            </a:r>
            <a:endParaRPr lang="en-US" sz="1700" dirty="0"/>
          </a:p>
        </p:txBody>
      </p:sp>
      <p:sp>
        <p:nvSpPr>
          <p:cNvPr id="7" name="a2_d0"/>
          <p:cNvSpPr txBox="1"/>
          <p:nvPr/>
        </p:nvSpPr>
        <p:spPr>
          <a:xfrm>
            <a:off x="7863840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nesneyi aynı anda birçok açıdan göstermek istedi.</a:t>
            </a:r>
            <a:endParaRPr lang="en-US" sz="1400" dirty="0"/>
          </a:p>
        </p:txBody>
      </p:sp>
      <p:sp>
        <p:nvSpPr>
          <p:cNvPr id="8" name="a3_r1"/>
          <p:cNvSpPr/>
          <p:nvPr/>
        </p:nvSpPr>
        <p:spPr>
          <a:xfrm>
            <a:off x="5577840" y="3749040"/>
            <a:ext cx="5943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a3_h1"/>
          <p:cNvSpPr txBox="1"/>
          <p:nvPr/>
        </p:nvSpPr>
        <p:spPr>
          <a:xfrm>
            <a:off x="557784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değişim</a:t>
            </a:r>
            <a:endParaRPr lang="en-US" sz="1700" dirty="0"/>
          </a:p>
        </p:txBody>
      </p:sp>
      <p:sp>
        <p:nvSpPr>
          <p:cNvPr id="10" name="a3_d1"/>
          <p:cNvSpPr txBox="1"/>
          <p:nvPr/>
        </p:nvSpPr>
        <p:spPr>
          <a:xfrm>
            <a:off x="786384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stile bağlı kalmadı; kendini defalarca yeniden icat etti.</a:t>
            </a:r>
            <a:endParaRPr lang="en-US" sz="1400" dirty="0"/>
          </a:p>
        </p:txBody>
      </p:sp>
      <p:sp>
        <p:nvSpPr>
          <p:cNvPr id="11" name="a4_r2"/>
          <p:cNvSpPr/>
          <p:nvPr/>
        </p:nvSpPr>
        <p:spPr>
          <a:xfrm>
            <a:off x="5577840" y="4617720"/>
            <a:ext cx="5943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2" name="a4_h2"/>
          <p:cNvSpPr txBox="1"/>
          <p:nvPr/>
        </p:nvSpPr>
        <p:spPr>
          <a:xfrm>
            <a:off x="5577840" y="4754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 bir tepkidir</a:t>
            </a:r>
            <a:endParaRPr lang="en-US" sz="1700" dirty="0"/>
          </a:p>
        </p:txBody>
      </p:sp>
      <p:sp>
        <p:nvSpPr>
          <p:cNvPr id="13" name="a4_d2"/>
          <p:cNvSpPr txBox="1"/>
          <p:nvPr/>
        </p:nvSpPr>
        <p:spPr>
          <a:xfrm>
            <a:off x="7863840" y="47731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Sanatı güzelliğin ötesinde bir düşünce ve itiraz aracı olarak gördü.</a:t>
            </a:r>
            <a:endParaRPr lang="en-US" sz="1400" dirty="0"/>
          </a:p>
        </p:txBody>
      </p:sp>
      <p:sp>
        <p:nvSpPr>
          <p:cNvPr id="14" name="a5_q2"/>
          <p:cNvSpPr txBox="1"/>
          <p:nvPr/>
        </p:nvSpPr>
        <p:spPr>
          <a:xfrm>
            <a:off x="5577840" y="5669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“Sanat, gerçeği fark etmemizi sağlayan bir yalandır.”</a:t>
            </a:r>
            <a:endParaRPr lang="en-US" sz="1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 DÖNEMLERI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Yetmiş yılda yedi farklı Picasso</a:t>
            </a:r>
            <a:endParaRPr lang="en-US" sz="3600" dirty="0"/>
          </a:p>
        </p:txBody>
      </p:sp>
      <p:sp>
        <p:nvSpPr>
          <p:cNvPr id="4" name="a0_line"/>
          <p:cNvSpPr/>
          <p:nvPr/>
        </p:nvSpPr>
        <p:spPr>
          <a:xfrm>
            <a:off x="640080" y="1965960"/>
            <a:ext cx="1090879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a1_d0"/>
          <p:cNvSpPr/>
          <p:nvPr/>
        </p:nvSpPr>
        <p:spPr>
          <a:xfrm>
            <a:off x="640080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1_y0"/>
          <p:cNvSpPr txBox="1"/>
          <p:nvPr/>
        </p:nvSpPr>
        <p:spPr>
          <a:xfrm>
            <a:off x="640080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1901–1904</a:t>
            </a:r>
            <a:endParaRPr lang="en-US" sz="1600" dirty="0"/>
          </a:p>
        </p:txBody>
      </p:sp>
      <p:sp>
        <p:nvSpPr>
          <p:cNvPr id="7" name="a1_n0"/>
          <p:cNvSpPr txBox="1"/>
          <p:nvPr/>
        </p:nvSpPr>
        <p:spPr>
          <a:xfrm>
            <a:off x="640080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 Dönem</a:t>
            </a:r>
            <a:endParaRPr lang="en-US" sz="1400" dirty="0"/>
          </a:p>
        </p:txBody>
      </p:sp>
      <p:sp>
        <p:nvSpPr>
          <p:cNvPr id="8" name="a1_x0"/>
          <p:cNvSpPr txBox="1"/>
          <p:nvPr/>
        </p:nvSpPr>
        <p:spPr>
          <a:xfrm>
            <a:off x="640080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Yoksulluk ve hüzün, mavi tonlar</a:t>
            </a:r>
            <a:endParaRPr lang="en-US" sz="1100" dirty="0"/>
          </a:p>
        </p:txBody>
      </p:sp>
      <p:pic>
        <p:nvPicPr>
          <p:cNvPr id="9" name="a1_i0" descr="/home/claude/m2/t_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03320"/>
            <a:ext cx="1371600" cy="1828800"/>
          </a:xfrm>
          <a:prstGeom prst="rect">
            <a:avLst/>
          </a:prstGeom>
        </p:spPr>
      </p:pic>
      <p:sp>
        <p:nvSpPr>
          <p:cNvPr id="10" name="a1_c0"/>
          <p:cNvSpPr txBox="1"/>
          <p:nvPr/>
        </p:nvSpPr>
        <p:spPr>
          <a:xfrm>
            <a:off x="640080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Yaşlı Gitarist</a:t>
            </a:r>
            <a:endParaRPr lang="en-US" sz="1100" dirty="0"/>
          </a:p>
        </p:txBody>
      </p:sp>
      <p:sp>
        <p:nvSpPr>
          <p:cNvPr id="11" name="a2_d1"/>
          <p:cNvSpPr/>
          <p:nvPr/>
        </p:nvSpPr>
        <p:spPr>
          <a:xfrm>
            <a:off x="2198479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2_y1"/>
          <p:cNvSpPr txBox="1"/>
          <p:nvPr/>
        </p:nvSpPr>
        <p:spPr>
          <a:xfrm>
            <a:off x="2198479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1904–1906</a:t>
            </a:r>
            <a:endParaRPr lang="en-US" sz="1600" dirty="0"/>
          </a:p>
        </p:txBody>
      </p:sp>
      <p:sp>
        <p:nvSpPr>
          <p:cNvPr id="13" name="a2_n1"/>
          <p:cNvSpPr txBox="1"/>
          <p:nvPr/>
        </p:nvSpPr>
        <p:spPr>
          <a:xfrm>
            <a:off x="2198479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 Dönem</a:t>
            </a:r>
            <a:endParaRPr lang="en-US" sz="1400" dirty="0"/>
          </a:p>
        </p:txBody>
      </p:sp>
      <p:sp>
        <p:nvSpPr>
          <p:cNvPr id="14" name="a2_x1"/>
          <p:cNvSpPr txBox="1"/>
          <p:nvPr/>
        </p:nvSpPr>
        <p:spPr>
          <a:xfrm>
            <a:off x="2198479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Sirk insanları, sıcak pembeler</a:t>
            </a:r>
            <a:endParaRPr lang="en-US" sz="1100" dirty="0"/>
          </a:p>
        </p:txBody>
      </p:sp>
      <p:pic>
        <p:nvPicPr>
          <p:cNvPr id="15" name="a2_i1" descr="/home/claude/m2/t_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479" y="3703320"/>
            <a:ext cx="1371600" cy="1828800"/>
          </a:xfrm>
          <a:prstGeom prst="rect">
            <a:avLst/>
          </a:prstGeom>
        </p:spPr>
      </p:pic>
      <p:sp>
        <p:nvSpPr>
          <p:cNvPr id="16" name="a2_c1"/>
          <p:cNvSpPr txBox="1"/>
          <p:nvPr/>
        </p:nvSpPr>
        <p:spPr>
          <a:xfrm>
            <a:off x="2198479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Cambazlar Ailesi</a:t>
            </a:r>
            <a:endParaRPr lang="en-US" sz="1100" dirty="0"/>
          </a:p>
        </p:txBody>
      </p:sp>
      <p:sp>
        <p:nvSpPr>
          <p:cNvPr id="17" name="a3_d2"/>
          <p:cNvSpPr/>
          <p:nvPr/>
        </p:nvSpPr>
        <p:spPr>
          <a:xfrm>
            <a:off x="3756878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a3_y2"/>
          <p:cNvSpPr txBox="1"/>
          <p:nvPr/>
        </p:nvSpPr>
        <p:spPr>
          <a:xfrm>
            <a:off x="3756878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1907–1909</a:t>
            </a:r>
            <a:endParaRPr lang="en-US" sz="1600" dirty="0"/>
          </a:p>
        </p:txBody>
      </p:sp>
      <p:sp>
        <p:nvSpPr>
          <p:cNvPr id="19" name="a3_n2"/>
          <p:cNvSpPr txBox="1"/>
          <p:nvPr/>
        </p:nvSpPr>
        <p:spPr>
          <a:xfrm>
            <a:off x="3756878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Afrika Etkisi</a:t>
            </a:r>
            <a:endParaRPr lang="en-US" sz="1400" dirty="0"/>
          </a:p>
        </p:txBody>
      </p:sp>
      <p:sp>
        <p:nvSpPr>
          <p:cNvPr id="20" name="a3_x2"/>
          <p:cNvSpPr txBox="1"/>
          <p:nvPr/>
        </p:nvSpPr>
        <p:spPr>
          <a:xfrm>
            <a:off x="3756878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 benzeri yüzler</a:t>
            </a:r>
            <a:endParaRPr lang="en-US" sz="1100" dirty="0"/>
          </a:p>
        </p:txBody>
      </p:sp>
      <p:pic>
        <p:nvPicPr>
          <p:cNvPr id="21" name="a3_i2" descr="/home/claude/m2/t_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878" y="3703320"/>
            <a:ext cx="1371600" cy="1828800"/>
          </a:xfrm>
          <a:prstGeom prst="rect">
            <a:avLst/>
          </a:prstGeom>
        </p:spPr>
      </p:pic>
      <p:sp>
        <p:nvSpPr>
          <p:cNvPr id="22" name="a3_c2"/>
          <p:cNvSpPr txBox="1"/>
          <p:nvPr/>
        </p:nvSpPr>
        <p:spPr>
          <a:xfrm>
            <a:off x="3756878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Avignonlu Kızlar</a:t>
            </a:r>
            <a:endParaRPr lang="en-US" sz="1100" dirty="0"/>
          </a:p>
        </p:txBody>
      </p:sp>
      <p:sp>
        <p:nvSpPr>
          <p:cNvPr id="23" name="a4_d3"/>
          <p:cNvSpPr/>
          <p:nvPr/>
        </p:nvSpPr>
        <p:spPr>
          <a:xfrm>
            <a:off x="5315277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a4_y3"/>
          <p:cNvSpPr txBox="1"/>
          <p:nvPr/>
        </p:nvSpPr>
        <p:spPr>
          <a:xfrm>
            <a:off x="5315277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1909–1912</a:t>
            </a:r>
            <a:endParaRPr lang="en-US" sz="1600" dirty="0"/>
          </a:p>
        </p:txBody>
      </p:sp>
      <p:sp>
        <p:nvSpPr>
          <p:cNvPr id="25" name="a4_n3"/>
          <p:cNvSpPr txBox="1"/>
          <p:nvPr/>
        </p:nvSpPr>
        <p:spPr>
          <a:xfrm>
            <a:off x="5315277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Kübizm</a:t>
            </a:r>
            <a:endParaRPr lang="en-US" sz="1400" dirty="0"/>
          </a:p>
        </p:txBody>
      </p:sp>
      <p:sp>
        <p:nvSpPr>
          <p:cNvPr id="26" name="a4_x3"/>
          <p:cNvSpPr txBox="1"/>
          <p:nvPr/>
        </p:nvSpPr>
        <p:spPr>
          <a:xfrm>
            <a:off x="5315277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Parçalanan nesneler, gri ve kahve</a:t>
            </a:r>
            <a:endParaRPr lang="en-US" sz="1100" dirty="0"/>
          </a:p>
        </p:txBody>
      </p:sp>
      <p:pic>
        <p:nvPicPr>
          <p:cNvPr id="27" name="a4_i3" descr="/home/claude/m2/t_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5277" y="3703320"/>
            <a:ext cx="1371600" cy="1828800"/>
          </a:xfrm>
          <a:prstGeom prst="rect">
            <a:avLst/>
          </a:prstGeom>
        </p:spPr>
      </p:pic>
      <p:sp>
        <p:nvSpPr>
          <p:cNvPr id="28" name="a4_c3"/>
          <p:cNvSpPr txBox="1"/>
          <p:nvPr/>
        </p:nvSpPr>
        <p:spPr>
          <a:xfrm>
            <a:off x="5315277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Ambroise Vollard'ın Portresi</a:t>
            </a:r>
            <a:endParaRPr lang="en-US" sz="1100" dirty="0"/>
          </a:p>
        </p:txBody>
      </p:sp>
      <p:sp>
        <p:nvSpPr>
          <p:cNvPr id="29" name="a5_d4"/>
          <p:cNvSpPr/>
          <p:nvPr/>
        </p:nvSpPr>
        <p:spPr>
          <a:xfrm>
            <a:off x="6873675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a5_y4"/>
          <p:cNvSpPr txBox="1"/>
          <p:nvPr/>
        </p:nvSpPr>
        <p:spPr>
          <a:xfrm>
            <a:off x="6873675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1912–1921</a:t>
            </a:r>
            <a:endParaRPr lang="en-US" sz="1600" dirty="0"/>
          </a:p>
        </p:txBody>
      </p:sp>
      <p:sp>
        <p:nvSpPr>
          <p:cNvPr id="31" name="a5_n4"/>
          <p:cNvSpPr txBox="1"/>
          <p:nvPr/>
        </p:nvSpPr>
        <p:spPr>
          <a:xfrm>
            <a:off x="6873675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Sentetik Kübizm</a:t>
            </a:r>
            <a:endParaRPr lang="en-US" sz="1400" dirty="0"/>
          </a:p>
        </p:txBody>
      </p:sp>
      <p:sp>
        <p:nvSpPr>
          <p:cNvPr id="32" name="a5_x4"/>
          <p:cNvSpPr txBox="1"/>
          <p:nvPr/>
        </p:nvSpPr>
        <p:spPr>
          <a:xfrm>
            <a:off x="6873675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Kolaj ve düz renk blokları</a:t>
            </a:r>
            <a:endParaRPr lang="en-US" sz="1100" dirty="0"/>
          </a:p>
        </p:txBody>
      </p:sp>
      <p:pic>
        <p:nvPicPr>
          <p:cNvPr id="33" name="a5_i4" descr="/home/claude/m2/t_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3675" y="3703320"/>
            <a:ext cx="1371600" cy="1828800"/>
          </a:xfrm>
          <a:prstGeom prst="rect">
            <a:avLst/>
          </a:prstGeom>
        </p:spPr>
      </p:pic>
      <p:sp>
        <p:nvSpPr>
          <p:cNvPr id="34" name="a5_c4"/>
          <p:cNvSpPr txBox="1"/>
          <p:nvPr/>
        </p:nvSpPr>
        <p:spPr>
          <a:xfrm>
            <a:off x="6873675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Müzisyen</a:t>
            </a:r>
            <a:endParaRPr lang="en-US" sz="1100" dirty="0"/>
          </a:p>
        </p:txBody>
      </p:sp>
      <p:sp>
        <p:nvSpPr>
          <p:cNvPr id="35" name="a6_d5"/>
          <p:cNvSpPr/>
          <p:nvPr/>
        </p:nvSpPr>
        <p:spPr>
          <a:xfrm>
            <a:off x="8432074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a6_y5"/>
          <p:cNvSpPr txBox="1"/>
          <p:nvPr/>
        </p:nvSpPr>
        <p:spPr>
          <a:xfrm>
            <a:off x="8432074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1921–1936</a:t>
            </a:r>
            <a:endParaRPr lang="en-US" sz="1600" dirty="0"/>
          </a:p>
        </p:txBody>
      </p:sp>
      <p:sp>
        <p:nvSpPr>
          <p:cNvPr id="37" name="a6_n5"/>
          <p:cNvSpPr txBox="1"/>
          <p:nvPr/>
        </p:nvSpPr>
        <p:spPr>
          <a:xfrm>
            <a:off x="8432074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Neoklasik ve Sürrealist</a:t>
            </a:r>
            <a:endParaRPr lang="en-US" sz="1400" dirty="0"/>
          </a:p>
        </p:txBody>
      </p:sp>
      <p:sp>
        <p:nvSpPr>
          <p:cNvPr id="38" name="a6_x5"/>
          <p:cNvSpPr txBox="1"/>
          <p:nvPr/>
        </p:nvSpPr>
        <p:spPr>
          <a:xfrm>
            <a:off x="8432074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figürler, rüya biçimleri</a:t>
            </a:r>
            <a:endParaRPr lang="en-US" sz="1100" dirty="0"/>
          </a:p>
        </p:txBody>
      </p:sp>
      <p:pic>
        <p:nvPicPr>
          <p:cNvPr id="39" name="a6_i5" descr="/home/claude/m2/t_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2074" y="3703320"/>
            <a:ext cx="1371600" cy="1828800"/>
          </a:xfrm>
          <a:prstGeom prst="rect">
            <a:avLst/>
          </a:prstGeom>
        </p:spPr>
      </p:pic>
      <p:sp>
        <p:nvSpPr>
          <p:cNvPr id="40" name="a6_c5"/>
          <p:cNvSpPr txBox="1"/>
          <p:nvPr/>
        </p:nvSpPr>
        <p:spPr>
          <a:xfrm>
            <a:off x="8432074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Kumsalda Koşan İki Kadın</a:t>
            </a:r>
            <a:endParaRPr lang="en-US" sz="1100" dirty="0"/>
          </a:p>
        </p:txBody>
      </p:sp>
      <p:sp>
        <p:nvSpPr>
          <p:cNvPr id="41" name="a7_d6"/>
          <p:cNvSpPr/>
          <p:nvPr/>
        </p:nvSpPr>
        <p:spPr>
          <a:xfrm>
            <a:off x="9990473" y="1901952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a7_y6"/>
          <p:cNvSpPr txBox="1"/>
          <p:nvPr/>
        </p:nvSpPr>
        <p:spPr>
          <a:xfrm>
            <a:off x="9990473" y="2148840"/>
            <a:ext cx="14669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1937–1973</a:t>
            </a:r>
            <a:endParaRPr lang="en-US" sz="1600" dirty="0"/>
          </a:p>
        </p:txBody>
      </p:sp>
      <p:sp>
        <p:nvSpPr>
          <p:cNvPr id="43" name="a7_n6"/>
          <p:cNvSpPr txBox="1"/>
          <p:nvPr/>
        </p:nvSpPr>
        <p:spPr>
          <a:xfrm>
            <a:off x="9990473" y="2487168"/>
            <a:ext cx="14212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Savaş ve Geç Dönem</a:t>
            </a:r>
            <a:endParaRPr lang="en-US" sz="1400" dirty="0"/>
          </a:p>
        </p:txBody>
      </p:sp>
      <p:sp>
        <p:nvSpPr>
          <p:cNvPr id="44" name="a7_x6"/>
          <p:cNvSpPr txBox="1"/>
          <p:nvPr/>
        </p:nvSpPr>
        <p:spPr>
          <a:xfrm>
            <a:off x="9990473" y="2990088"/>
            <a:ext cx="1375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Guernica'dan ustalara özgür yorumlara</a:t>
            </a:r>
            <a:endParaRPr lang="en-US" sz="1100" dirty="0"/>
          </a:p>
        </p:txBody>
      </p:sp>
      <p:pic>
        <p:nvPicPr>
          <p:cNvPr id="45" name="a7_i6" descr="/home/claude/m2/t_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0473" y="3703320"/>
            <a:ext cx="1371600" cy="1828800"/>
          </a:xfrm>
          <a:prstGeom prst="rect">
            <a:avLst/>
          </a:prstGeom>
        </p:spPr>
      </p:pic>
      <p:sp>
        <p:nvSpPr>
          <p:cNvPr id="46" name="a7_c6"/>
          <p:cNvSpPr txBox="1"/>
          <p:nvPr/>
        </p:nvSpPr>
        <p:spPr>
          <a:xfrm>
            <a:off x="9990473" y="5623560"/>
            <a:ext cx="1466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Meninas</a:t>
            </a:r>
            <a:endParaRPr 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KÜBIZM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yönden aynı anda bakmak</a:t>
            </a:r>
            <a:endParaRPr lang="en-US" sz="3600" dirty="0"/>
          </a:p>
        </p:txBody>
      </p:sp>
      <p:sp>
        <p:nvSpPr>
          <p:cNvPr id="4" name="a1_r0"/>
          <p:cNvSpPr/>
          <p:nvPr/>
        </p:nvSpPr>
        <p:spPr>
          <a:xfrm>
            <a:off x="640080" y="1874520"/>
            <a:ext cx="5760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" name="a1_h0"/>
          <p:cNvSpPr txBox="1"/>
          <p:nvPr/>
        </p:nvSpPr>
        <p:spPr>
          <a:xfrm>
            <a:off x="640080" y="20391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Kuruluş</a:t>
            </a:r>
            <a:endParaRPr lang="en-US" sz="1500" dirty="0"/>
          </a:p>
        </p:txBody>
      </p:sp>
      <p:sp>
        <p:nvSpPr>
          <p:cNvPr id="6" name="a1_d0"/>
          <p:cNvSpPr txBox="1"/>
          <p:nvPr/>
        </p:nvSpPr>
        <p:spPr>
          <a:xfrm>
            <a:off x="2194560" y="20391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Picasso ve Georges Braque tarafından 1907–1908 yıllarında başlatıldı.</a:t>
            </a:r>
            <a:endParaRPr lang="en-US" sz="1500" dirty="0"/>
          </a:p>
        </p:txBody>
      </p:sp>
      <p:sp>
        <p:nvSpPr>
          <p:cNvPr id="7" name="a2_r1"/>
          <p:cNvSpPr/>
          <p:nvPr/>
        </p:nvSpPr>
        <p:spPr>
          <a:xfrm>
            <a:off x="640080" y="2880360"/>
            <a:ext cx="5760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a2_h1"/>
          <p:cNvSpPr txBox="1"/>
          <p:nvPr/>
        </p:nvSpPr>
        <p:spPr>
          <a:xfrm>
            <a:off x="640080" y="3044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endParaRPr lang="en-US" sz="1500" dirty="0"/>
          </a:p>
        </p:txBody>
      </p:sp>
      <p:sp>
        <p:nvSpPr>
          <p:cNvPr id="9" name="a2_d1"/>
          <p:cNvSpPr txBox="1"/>
          <p:nvPr/>
        </p:nvSpPr>
        <p:spPr>
          <a:xfrm>
            <a:off x="2194560" y="30449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Nesneler geometrik parçalara bölünür; önden, yandan ve üstten görünüşleri aynı yüzeyde birleşir.</a:t>
            </a:r>
            <a:endParaRPr lang="en-US" sz="1500" dirty="0"/>
          </a:p>
        </p:txBody>
      </p:sp>
      <p:sp>
        <p:nvSpPr>
          <p:cNvPr id="10" name="a3_r2"/>
          <p:cNvSpPr/>
          <p:nvPr/>
        </p:nvSpPr>
        <p:spPr>
          <a:xfrm>
            <a:off x="640080" y="3886200"/>
            <a:ext cx="5760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a3_h2"/>
          <p:cNvSpPr txBox="1"/>
          <p:nvPr/>
        </p:nvSpPr>
        <p:spPr>
          <a:xfrm>
            <a:off x="640080" y="40507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Kırılma</a:t>
            </a:r>
            <a:endParaRPr lang="en-US" sz="1500" dirty="0"/>
          </a:p>
        </p:txBody>
      </p:sp>
      <p:sp>
        <p:nvSpPr>
          <p:cNvPr id="12" name="a3_d2"/>
          <p:cNvSpPr txBox="1"/>
          <p:nvPr/>
        </p:nvSpPr>
        <p:spPr>
          <a:xfrm>
            <a:off x="2194560" y="40507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Rönesans'tan beri süren tek bakış açılı perspektif kuralını yıktı.</a:t>
            </a:r>
            <a:endParaRPr lang="en-US" sz="1500" dirty="0"/>
          </a:p>
        </p:txBody>
      </p:sp>
      <p:sp>
        <p:nvSpPr>
          <p:cNvPr id="13" name="a4_r3"/>
          <p:cNvSpPr/>
          <p:nvPr/>
        </p:nvSpPr>
        <p:spPr>
          <a:xfrm>
            <a:off x="640080" y="4892040"/>
            <a:ext cx="5760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a4_h3"/>
          <p:cNvSpPr txBox="1"/>
          <p:nvPr/>
        </p:nvSpPr>
        <p:spPr>
          <a:xfrm>
            <a:off x="640080" y="5056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evre</a:t>
            </a:r>
            <a:endParaRPr lang="en-US" sz="1500" dirty="0"/>
          </a:p>
        </p:txBody>
      </p:sp>
      <p:sp>
        <p:nvSpPr>
          <p:cNvPr id="15" name="a4_d3"/>
          <p:cNvSpPr txBox="1"/>
          <p:nvPr/>
        </p:nvSpPr>
        <p:spPr>
          <a:xfrm>
            <a:off x="2194560" y="50566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parçalayan Analitik Kübizm, ardından kolajla yeniden kuran Sentetik Kübizm.</a:t>
            </a:r>
            <a:endParaRPr lang="en-US" sz="1500" dirty="0"/>
          </a:p>
        </p:txBody>
      </p:sp>
      <p:sp>
        <p:nvSpPr>
          <p:cNvPr id="16" name="a4_rl"/>
          <p:cNvSpPr/>
          <p:nvPr/>
        </p:nvSpPr>
        <p:spPr>
          <a:xfrm>
            <a:off x="640080" y="5897880"/>
            <a:ext cx="5760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pic>
        <p:nvPicPr>
          <p:cNvPr id="17" name="a0_img" descr="/home/claude/m2/full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685800"/>
            <a:ext cx="4114800" cy="4563380"/>
          </a:xfrm>
          <a:prstGeom prst="rect">
            <a:avLst/>
          </a:prstGeom>
        </p:spPr>
      </p:pic>
      <p:sp>
        <p:nvSpPr>
          <p:cNvPr id="18" name="a5_c1"/>
          <p:cNvSpPr txBox="1"/>
          <p:nvPr/>
        </p:nvSpPr>
        <p:spPr>
          <a:xfrm>
            <a:off x="7406640" y="53589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Avignonlu Kızlar</a:t>
            </a: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1907 · MoMA, New York</a:t>
            </a:r>
            <a:endParaRPr lang="en-US" sz="1200" dirty="0"/>
          </a:p>
        </p:txBody>
      </p:sp>
      <p:sp>
        <p:nvSpPr>
          <p:cNvPr id="19" name="a5_c2"/>
          <p:cNvSpPr txBox="1"/>
          <p:nvPr/>
        </p:nvSpPr>
        <p:spPr>
          <a:xfrm>
            <a:off x="7406640" y="56332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Kübizm'in başlangıcı sayılan eser. Maske benzeri yüzlerde Afrika heykellerinin etkisi görülür.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RESIM DIŞINDAKI ALANLAR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Sadece bir ressam değil</a:t>
            </a:r>
            <a:endParaRPr lang="en-US" sz="3600" dirty="0"/>
          </a:p>
        </p:txBody>
      </p:sp>
      <p:sp>
        <p:nvSpPr>
          <p:cNvPr id="4" name="a1_r0"/>
          <p:cNvSpPr/>
          <p:nvPr/>
        </p:nvSpPr>
        <p:spPr>
          <a:xfrm>
            <a:off x="640080" y="187452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a1_n0"/>
          <p:cNvSpPr txBox="1"/>
          <p:nvPr/>
        </p:nvSpPr>
        <p:spPr>
          <a:xfrm>
            <a:off x="640080" y="2075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a1_h0"/>
          <p:cNvSpPr txBox="1"/>
          <p:nvPr/>
        </p:nvSpPr>
        <p:spPr>
          <a:xfrm>
            <a:off x="640080" y="2377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Heykel</a:t>
            </a:r>
            <a:endParaRPr lang="en-US" sz="2400" dirty="0"/>
          </a:p>
        </p:txBody>
      </p:sp>
      <p:sp>
        <p:nvSpPr>
          <p:cNvPr id="7" name="a1_d0"/>
          <p:cNvSpPr txBox="1"/>
          <p:nvPr/>
        </p:nvSpPr>
        <p:spPr>
          <a:xfrm>
            <a:off x="640080" y="2898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Boğa Başı (1942) bir bisiklet selesi ve gidonundan oluşur. Chicago'daki dev Picasso heykeli de onun tasarımıdır.</a:t>
            </a:r>
            <a:endParaRPr lang="en-US" sz="1400" dirty="0"/>
          </a:p>
        </p:txBody>
      </p:sp>
      <p:sp>
        <p:nvSpPr>
          <p:cNvPr id="8" name="a2_r1"/>
          <p:cNvSpPr/>
          <p:nvPr/>
        </p:nvSpPr>
        <p:spPr>
          <a:xfrm>
            <a:off x="4370832" y="187452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a2_n1"/>
          <p:cNvSpPr txBox="1"/>
          <p:nvPr/>
        </p:nvSpPr>
        <p:spPr>
          <a:xfrm>
            <a:off x="4370832" y="2075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a2_h1"/>
          <p:cNvSpPr txBox="1"/>
          <p:nvPr/>
        </p:nvSpPr>
        <p:spPr>
          <a:xfrm>
            <a:off x="4370832" y="2377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Seramik</a:t>
            </a:r>
            <a:endParaRPr lang="en-US" sz="2400" dirty="0"/>
          </a:p>
        </p:txBody>
      </p:sp>
      <p:sp>
        <p:nvSpPr>
          <p:cNvPr id="11" name="a2_d1"/>
          <p:cNvSpPr txBox="1"/>
          <p:nvPr/>
        </p:nvSpPr>
        <p:spPr>
          <a:xfrm>
            <a:off x="4370832" y="2898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Fransa'nın Vallauris kasabasında binlerce tabak, vazo ve figür üretti.</a:t>
            </a:r>
            <a:endParaRPr lang="en-US" sz="1400" dirty="0"/>
          </a:p>
        </p:txBody>
      </p:sp>
      <p:sp>
        <p:nvSpPr>
          <p:cNvPr id="12" name="a3_r2"/>
          <p:cNvSpPr/>
          <p:nvPr/>
        </p:nvSpPr>
        <p:spPr>
          <a:xfrm>
            <a:off x="8101584" y="187452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a3_n2"/>
          <p:cNvSpPr txBox="1"/>
          <p:nvPr/>
        </p:nvSpPr>
        <p:spPr>
          <a:xfrm>
            <a:off x="8101584" y="2075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a3_h2"/>
          <p:cNvSpPr txBox="1"/>
          <p:nvPr/>
        </p:nvSpPr>
        <p:spPr>
          <a:xfrm>
            <a:off x="8101584" y="23774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Gravür ve baskı</a:t>
            </a:r>
            <a:endParaRPr lang="en-US" sz="2400" dirty="0"/>
          </a:p>
        </p:txBody>
      </p:sp>
      <p:sp>
        <p:nvSpPr>
          <p:cNvPr id="15" name="a3_d2"/>
          <p:cNvSpPr txBox="1"/>
          <p:nvPr/>
        </p:nvSpPr>
        <p:spPr>
          <a:xfrm>
            <a:off x="8101584" y="2898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Vollard Serisi gibi yüzlerce baskıyla bu alanın da ustalarından oldu.</a:t>
            </a:r>
            <a:endParaRPr lang="en-US" sz="1400" dirty="0"/>
          </a:p>
        </p:txBody>
      </p:sp>
      <p:sp>
        <p:nvSpPr>
          <p:cNvPr id="16" name="a4_r3"/>
          <p:cNvSpPr/>
          <p:nvPr/>
        </p:nvSpPr>
        <p:spPr>
          <a:xfrm>
            <a:off x="640080" y="40690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a4_n3"/>
          <p:cNvSpPr txBox="1"/>
          <p:nvPr/>
        </p:nvSpPr>
        <p:spPr>
          <a:xfrm>
            <a:off x="640080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a4_h3"/>
          <p:cNvSpPr txBox="1"/>
          <p:nvPr/>
        </p:nvSpPr>
        <p:spPr>
          <a:xfrm>
            <a:off x="640080" y="4572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Sahne tasarımı</a:t>
            </a:r>
            <a:endParaRPr lang="en-US" sz="2400" dirty="0"/>
          </a:p>
        </p:txBody>
      </p:sp>
      <p:sp>
        <p:nvSpPr>
          <p:cNvPr id="19" name="a4_d3"/>
          <p:cNvSpPr txBox="1"/>
          <p:nvPr/>
        </p:nvSpPr>
        <p:spPr>
          <a:xfrm>
            <a:off x="640080" y="5093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 Balesi'nin Parade gösterisi (1917) için kostüm ve dekor tasarladı.</a:t>
            </a:r>
            <a:endParaRPr lang="en-US" sz="1400" dirty="0"/>
          </a:p>
        </p:txBody>
      </p:sp>
      <p:sp>
        <p:nvSpPr>
          <p:cNvPr id="20" name="a5_r4"/>
          <p:cNvSpPr/>
          <p:nvPr/>
        </p:nvSpPr>
        <p:spPr>
          <a:xfrm>
            <a:off x="4370832" y="40690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1" name="a5_n4"/>
          <p:cNvSpPr txBox="1"/>
          <p:nvPr/>
        </p:nvSpPr>
        <p:spPr>
          <a:xfrm>
            <a:off x="4370832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a5_h4"/>
          <p:cNvSpPr txBox="1"/>
          <p:nvPr/>
        </p:nvSpPr>
        <p:spPr>
          <a:xfrm>
            <a:off x="4370832" y="4572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Kolaj</a:t>
            </a:r>
            <a:endParaRPr lang="en-US" sz="2400" dirty="0"/>
          </a:p>
        </p:txBody>
      </p:sp>
      <p:sp>
        <p:nvSpPr>
          <p:cNvPr id="23" name="a5_d4"/>
          <p:cNvSpPr txBox="1"/>
          <p:nvPr/>
        </p:nvSpPr>
        <p:spPr>
          <a:xfrm>
            <a:off x="4370832" y="5093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Braque ile birlikte gazete ve duvar kâğıdını resme yapıştırarak kolajı sanata kazandırdı.</a:t>
            </a:r>
            <a:endParaRPr lang="en-US" sz="1400" dirty="0"/>
          </a:p>
        </p:txBody>
      </p:sp>
      <p:sp>
        <p:nvSpPr>
          <p:cNvPr id="24" name="a6_r5"/>
          <p:cNvSpPr/>
          <p:nvPr/>
        </p:nvSpPr>
        <p:spPr>
          <a:xfrm>
            <a:off x="8101584" y="406908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5" name="a6_n5"/>
          <p:cNvSpPr txBox="1"/>
          <p:nvPr/>
        </p:nvSpPr>
        <p:spPr>
          <a:xfrm>
            <a:off x="8101584" y="4270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a6_h5"/>
          <p:cNvSpPr txBox="1"/>
          <p:nvPr/>
        </p:nvSpPr>
        <p:spPr>
          <a:xfrm>
            <a:off x="8101584" y="4572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Edebiyat</a:t>
            </a:r>
            <a:endParaRPr lang="en-US" sz="2400" dirty="0"/>
          </a:p>
        </p:txBody>
      </p:sp>
      <p:sp>
        <p:nvSpPr>
          <p:cNvPr id="27" name="a6_d5"/>
          <p:cNvSpPr txBox="1"/>
          <p:nvPr/>
        </p:nvSpPr>
        <p:spPr>
          <a:xfrm>
            <a:off x="8101584" y="50932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Şiirler ve tiyatro oyunları yazdı; kelimelerle de deneyler yaptı.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MEŞHUR ESERLERI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Beş başyapıt</a:t>
            </a:r>
            <a:endParaRPr lang="en-US" sz="3600" dirty="0"/>
          </a:p>
        </p:txBody>
      </p:sp>
      <p:pic>
        <p:nvPicPr>
          <p:cNvPr id="4" name="a1_i0" descr="/home/claude/m2/c_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2011680" cy="3200400"/>
          </a:xfrm>
          <a:prstGeom prst="rect">
            <a:avLst/>
          </a:prstGeom>
        </p:spPr>
      </p:pic>
      <p:sp>
        <p:nvSpPr>
          <p:cNvPr id="5" name="a1_t0"/>
          <p:cNvSpPr txBox="1"/>
          <p:nvPr/>
        </p:nvSpPr>
        <p:spPr>
          <a:xfrm>
            <a:off x="640080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Yaşlı Gitarist</a:t>
            </a:r>
            <a:endParaRPr lang="en-US" sz="1700" dirty="0"/>
          </a:p>
        </p:txBody>
      </p:sp>
      <p:sp>
        <p:nvSpPr>
          <p:cNvPr id="6" name="a1_y0"/>
          <p:cNvSpPr txBox="1"/>
          <p:nvPr/>
        </p:nvSpPr>
        <p:spPr>
          <a:xfrm>
            <a:off x="640080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1903–1904</a:t>
            </a:r>
            <a:endParaRPr lang="en-US" sz="1300" dirty="0"/>
          </a:p>
        </p:txBody>
      </p:sp>
      <p:sp>
        <p:nvSpPr>
          <p:cNvPr id="7" name="a1_l0"/>
          <p:cNvSpPr txBox="1"/>
          <p:nvPr/>
        </p:nvSpPr>
        <p:spPr>
          <a:xfrm>
            <a:off x="640080" y="5833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Institute of Chicago</a:t>
            </a:r>
            <a:endParaRPr lang="en-US" sz="1200" dirty="0"/>
          </a:p>
        </p:txBody>
      </p:sp>
      <p:pic>
        <p:nvPicPr>
          <p:cNvPr id="8" name="a2_i1" descr="/home/claude/m2/c_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358" y="1828800"/>
            <a:ext cx="2011680" cy="3200400"/>
          </a:xfrm>
          <a:prstGeom prst="rect">
            <a:avLst/>
          </a:prstGeom>
        </p:spPr>
      </p:pic>
      <p:sp>
        <p:nvSpPr>
          <p:cNvPr id="9" name="a2_t1"/>
          <p:cNvSpPr txBox="1"/>
          <p:nvPr/>
        </p:nvSpPr>
        <p:spPr>
          <a:xfrm>
            <a:off x="2864358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Avignonlu Kızlar</a:t>
            </a:r>
            <a:endParaRPr lang="en-US" sz="1700" dirty="0"/>
          </a:p>
        </p:txBody>
      </p:sp>
      <p:sp>
        <p:nvSpPr>
          <p:cNvPr id="10" name="a2_y1"/>
          <p:cNvSpPr txBox="1"/>
          <p:nvPr/>
        </p:nvSpPr>
        <p:spPr>
          <a:xfrm>
            <a:off x="2864358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</a:t>
            </a:r>
            <a:endParaRPr lang="en-US" sz="1300" dirty="0"/>
          </a:p>
        </p:txBody>
      </p:sp>
      <p:sp>
        <p:nvSpPr>
          <p:cNvPr id="11" name="a2_l1"/>
          <p:cNvSpPr txBox="1"/>
          <p:nvPr/>
        </p:nvSpPr>
        <p:spPr>
          <a:xfrm>
            <a:off x="2864358" y="5833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MoMA, New York</a:t>
            </a:r>
            <a:endParaRPr lang="en-US" sz="1200" dirty="0"/>
          </a:p>
        </p:txBody>
      </p:sp>
      <p:pic>
        <p:nvPicPr>
          <p:cNvPr id="12" name="a3_i2" descr="/home/claude/m2/c_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636" y="1828800"/>
            <a:ext cx="2011680" cy="3200400"/>
          </a:xfrm>
          <a:prstGeom prst="rect">
            <a:avLst/>
          </a:prstGeom>
        </p:spPr>
      </p:pic>
      <p:sp>
        <p:nvSpPr>
          <p:cNvPr id="13" name="a3_t2"/>
          <p:cNvSpPr txBox="1"/>
          <p:nvPr/>
        </p:nvSpPr>
        <p:spPr>
          <a:xfrm>
            <a:off x="5088636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Müzisyen</a:t>
            </a:r>
            <a:endParaRPr lang="en-US" sz="1700" dirty="0"/>
          </a:p>
        </p:txBody>
      </p:sp>
      <p:sp>
        <p:nvSpPr>
          <p:cNvPr id="14" name="a3_y2"/>
          <p:cNvSpPr txBox="1"/>
          <p:nvPr/>
        </p:nvSpPr>
        <p:spPr>
          <a:xfrm>
            <a:off x="5088636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1921</a:t>
            </a:r>
            <a:endParaRPr lang="en-US" sz="1300" dirty="0"/>
          </a:p>
        </p:txBody>
      </p:sp>
      <p:sp>
        <p:nvSpPr>
          <p:cNvPr id="15" name="a3_l2"/>
          <p:cNvSpPr txBox="1"/>
          <p:nvPr/>
        </p:nvSpPr>
        <p:spPr>
          <a:xfrm>
            <a:off x="5088636" y="5833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MoMA, New York</a:t>
            </a:r>
            <a:endParaRPr lang="en-US" sz="1200" dirty="0"/>
          </a:p>
        </p:txBody>
      </p:sp>
      <p:pic>
        <p:nvPicPr>
          <p:cNvPr id="16" name="a4_i3" descr="/home/claude/m2/c_gu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2914" y="1828800"/>
            <a:ext cx="2011680" cy="3200400"/>
          </a:xfrm>
          <a:prstGeom prst="rect">
            <a:avLst/>
          </a:prstGeom>
        </p:spPr>
      </p:pic>
      <p:sp>
        <p:nvSpPr>
          <p:cNvPr id="17" name="a4_t3"/>
          <p:cNvSpPr txBox="1"/>
          <p:nvPr/>
        </p:nvSpPr>
        <p:spPr>
          <a:xfrm>
            <a:off x="7312914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Guernica</a:t>
            </a:r>
            <a:endParaRPr lang="en-US" sz="1700" dirty="0"/>
          </a:p>
        </p:txBody>
      </p:sp>
      <p:sp>
        <p:nvSpPr>
          <p:cNvPr id="18" name="a4_y3"/>
          <p:cNvSpPr txBox="1"/>
          <p:nvPr/>
        </p:nvSpPr>
        <p:spPr>
          <a:xfrm>
            <a:off x="7312914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</a:t>
            </a:r>
            <a:endParaRPr lang="en-US" sz="1300" dirty="0"/>
          </a:p>
        </p:txBody>
      </p:sp>
      <p:sp>
        <p:nvSpPr>
          <p:cNvPr id="19" name="a4_l3"/>
          <p:cNvSpPr txBox="1"/>
          <p:nvPr/>
        </p:nvSpPr>
        <p:spPr>
          <a:xfrm>
            <a:off x="7312914" y="5833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Reina Sofía, Madrid</a:t>
            </a:r>
            <a:endParaRPr lang="en-US" sz="1200" dirty="0"/>
          </a:p>
        </p:txBody>
      </p:sp>
      <p:pic>
        <p:nvPicPr>
          <p:cNvPr id="20" name="a5_i4" descr="/home/claude/m2/c_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92" y="1828800"/>
            <a:ext cx="2011680" cy="3200400"/>
          </a:xfrm>
          <a:prstGeom prst="rect">
            <a:avLst/>
          </a:prstGeom>
        </p:spPr>
      </p:pic>
      <p:sp>
        <p:nvSpPr>
          <p:cNvPr id="21" name="a5_t4"/>
          <p:cNvSpPr txBox="1"/>
          <p:nvPr/>
        </p:nvSpPr>
        <p:spPr>
          <a:xfrm>
            <a:off x="9537192" y="5193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Ağlayan Kadın</a:t>
            </a:r>
            <a:endParaRPr lang="en-US" sz="1700" dirty="0"/>
          </a:p>
        </p:txBody>
      </p:sp>
      <p:sp>
        <p:nvSpPr>
          <p:cNvPr id="22" name="a5_y4"/>
          <p:cNvSpPr txBox="1"/>
          <p:nvPr/>
        </p:nvSpPr>
        <p:spPr>
          <a:xfrm>
            <a:off x="9537192" y="5559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1937</a:t>
            </a:r>
            <a:endParaRPr lang="en-US" sz="1300" dirty="0"/>
          </a:p>
        </p:txBody>
      </p:sp>
      <p:sp>
        <p:nvSpPr>
          <p:cNvPr id="23" name="a5_l4"/>
          <p:cNvSpPr txBox="1"/>
          <p:nvPr/>
        </p:nvSpPr>
        <p:spPr>
          <a:xfrm>
            <a:off x="9537192" y="5833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 Modern, Londra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SAVAŞA KARŞI BIR ÇIĞLIK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Guernica, 1937</a:t>
            </a:r>
            <a:endParaRPr lang="en-US" sz="3600" dirty="0"/>
          </a:p>
        </p:txBody>
      </p:sp>
      <p:pic>
        <p:nvPicPr>
          <p:cNvPr id="4" name="a1_img" descr="/home/claude/m2/full_g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955280" cy="3504529"/>
          </a:xfrm>
          <a:prstGeom prst="rect">
            <a:avLst/>
          </a:prstGeom>
        </p:spPr>
      </p:pic>
      <p:sp>
        <p:nvSpPr>
          <p:cNvPr id="5" name="a2_r0"/>
          <p:cNvSpPr/>
          <p:nvPr/>
        </p:nvSpPr>
        <p:spPr>
          <a:xfrm>
            <a:off x="9098280" y="1783080"/>
            <a:ext cx="2450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6" name="a2_n0"/>
          <p:cNvSpPr txBox="1"/>
          <p:nvPr/>
        </p:nvSpPr>
        <p:spPr>
          <a:xfrm>
            <a:off x="9098280" y="192024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3,49 m</a:t>
            </a:r>
            <a:endParaRPr lang="en-US" sz="3400" dirty="0"/>
          </a:p>
        </p:txBody>
      </p:sp>
      <p:sp>
        <p:nvSpPr>
          <p:cNvPr id="7" name="a2_l0"/>
          <p:cNvSpPr txBox="1"/>
          <p:nvPr/>
        </p:nvSpPr>
        <p:spPr>
          <a:xfrm>
            <a:off x="9098280" y="251460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yükseklik</a:t>
            </a:r>
            <a:endParaRPr lang="en-US" sz="1300" dirty="0"/>
          </a:p>
        </p:txBody>
      </p:sp>
      <p:sp>
        <p:nvSpPr>
          <p:cNvPr id="8" name="a3_r1"/>
          <p:cNvSpPr/>
          <p:nvPr/>
        </p:nvSpPr>
        <p:spPr>
          <a:xfrm>
            <a:off x="9098280" y="2971800"/>
            <a:ext cx="2450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9" name="a3_n1"/>
          <p:cNvSpPr txBox="1"/>
          <p:nvPr/>
        </p:nvSpPr>
        <p:spPr>
          <a:xfrm>
            <a:off x="9098280" y="310896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7,77 m</a:t>
            </a:r>
            <a:endParaRPr lang="en-US" sz="3400" dirty="0"/>
          </a:p>
        </p:txBody>
      </p:sp>
      <p:sp>
        <p:nvSpPr>
          <p:cNvPr id="10" name="a3_l1"/>
          <p:cNvSpPr txBox="1"/>
          <p:nvPr/>
        </p:nvSpPr>
        <p:spPr>
          <a:xfrm>
            <a:off x="9098280" y="37033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genişlik</a:t>
            </a:r>
            <a:endParaRPr lang="en-US" sz="1300" dirty="0"/>
          </a:p>
        </p:txBody>
      </p:sp>
      <p:sp>
        <p:nvSpPr>
          <p:cNvPr id="11" name="a4_r2"/>
          <p:cNvSpPr/>
          <p:nvPr/>
        </p:nvSpPr>
        <p:spPr>
          <a:xfrm>
            <a:off x="9098280" y="4160520"/>
            <a:ext cx="2450592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2" name="a4_n2"/>
          <p:cNvSpPr txBox="1"/>
          <p:nvPr/>
        </p:nvSpPr>
        <p:spPr>
          <a:xfrm>
            <a:off x="9098280" y="429768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renk</a:t>
            </a:r>
            <a:endParaRPr lang="en-US" sz="3400" dirty="0"/>
          </a:p>
        </p:txBody>
      </p:sp>
      <p:sp>
        <p:nvSpPr>
          <p:cNvPr id="13" name="a4_l2"/>
          <p:cNvSpPr txBox="1"/>
          <p:nvPr/>
        </p:nvSpPr>
        <p:spPr>
          <a:xfrm>
            <a:off x="9098280" y="489204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siyah, beyaz ve gri</a:t>
            </a:r>
            <a:endParaRPr lang="en-US" sz="1300" dirty="0"/>
          </a:p>
        </p:txBody>
      </p:sp>
      <p:sp>
        <p:nvSpPr>
          <p:cNvPr id="14" name="a5_t0"/>
          <p:cNvSpPr txBox="1"/>
          <p:nvPr/>
        </p:nvSpPr>
        <p:spPr>
          <a:xfrm>
            <a:off x="640080" y="5607649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Nisan 1937'de, İspanya İç Savaşı sırasında Bask kasabası Guernica bombalandı. Picasso birkaç hafta içinde bu dev tabloyu yaptı ve Paris Dünya Fuarı'nda sergiledi.</a:t>
            </a:r>
            <a:endParaRPr lang="en-US" sz="1300" dirty="0"/>
          </a:p>
        </p:txBody>
      </p:sp>
      <p:sp>
        <p:nvSpPr>
          <p:cNvPr id="15" name="a5_t1"/>
          <p:cNvSpPr txBox="1"/>
          <p:nvPr/>
        </p:nvSpPr>
        <p:spPr>
          <a:xfrm>
            <a:off x="4754880" y="5607649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Çığlık atan insanlar, yaralı bir at ve bir boğa ile savaşın dehşetini anlatır. Bugün Madrid'deki Reina Sofía Müzesi'nde, dünyanın en tanınmış barış simgelerinden biri olarak sergileniyor.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_k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FIRÇADAN TABLOYA</a:t>
            </a:r>
            <a:endParaRPr lang="en-US" sz="1100" dirty="0"/>
          </a:p>
        </p:txBody>
      </p:sp>
      <p:sp>
        <p:nvSpPr>
          <p:cNvPr id="3" name="a0_q"/>
          <p:cNvSpPr txBox="1"/>
          <p:nvPr/>
        </p:nvSpPr>
        <p:spPr>
          <a:xfrm>
            <a:off x="640080" y="1234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Peki bu tablolar nasıl ortaya çıktı?</a:t>
            </a:r>
            <a:endParaRPr lang="en-US" sz="4400" dirty="0"/>
          </a:p>
        </p:txBody>
      </p:sp>
      <p:sp>
        <p:nvSpPr>
          <p:cNvPr id="4" name="a1_s"/>
          <p:cNvSpPr txBox="1"/>
          <p:nvPr/>
        </p:nvSpPr>
        <p:spPr>
          <a:xfrm>
            <a:off x="64008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tabloyu, bir ressamın fırçasında adım adım yeniden doğarken izleyeceğiz. Videolar hızlandırılmıştır.</a:t>
            </a:r>
            <a:endParaRPr lang="en-US" sz="1700" dirty="0"/>
          </a:p>
        </p:txBody>
      </p:sp>
      <p:pic>
        <p:nvPicPr>
          <p:cNvPr id="5" name="a2_i0" descr="/home/claude/m2/t_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1920240" cy="2560320"/>
          </a:xfrm>
          <a:prstGeom prst="rect">
            <a:avLst/>
          </a:prstGeom>
        </p:spPr>
      </p:pic>
      <p:sp>
        <p:nvSpPr>
          <p:cNvPr id="6" name="a2_c0"/>
          <p:cNvSpPr txBox="1"/>
          <p:nvPr/>
        </p:nvSpPr>
        <p:spPr>
          <a:xfrm>
            <a:off x="640080" y="5715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Yaşlı Gitarist, 1903–1904</a:t>
            </a:r>
            <a:endParaRPr lang="en-US" sz="1100" dirty="0"/>
          </a:p>
        </p:txBody>
      </p:sp>
      <p:pic>
        <p:nvPicPr>
          <p:cNvPr id="7" name="a3_i1" descr="/home/claude/m2/t_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3017520"/>
            <a:ext cx="1920240" cy="2560320"/>
          </a:xfrm>
          <a:prstGeom prst="rect">
            <a:avLst/>
          </a:prstGeom>
        </p:spPr>
      </p:pic>
      <p:sp>
        <p:nvSpPr>
          <p:cNvPr id="8" name="a3_c1"/>
          <p:cNvSpPr txBox="1"/>
          <p:nvPr/>
        </p:nvSpPr>
        <p:spPr>
          <a:xfrm>
            <a:off x="2880360" y="5715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Müzisyen, 1921</a:t>
            </a:r>
            <a:endParaRPr lang="en-US" sz="1100" dirty="0"/>
          </a:p>
        </p:txBody>
      </p:sp>
      <p:pic>
        <p:nvPicPr>
          <p:cNvPr id="9" name="a4_i2" descr="/home/claude/m2/t_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017520"/>
            <a:ext cx="1920240" cy="2560320"/>
          </a:xfrm>
          <a:prstGeom prst="rect">
            <a:avLst/>
          </a:prstGeom>
        </p:spPr>
      </p:pic>
      <p:sp>
        <p:nvSpPr>
          <p:cNvPr id="10" name="a4_c2"/>
          <p:cNvSpPr txBox="1"/>
          <p:nvPr/>
        </p:nvSpPr>
        <p:spPr>
          <a:xfrm>
            <a:off x="5120640" y="5715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Ağlayan Kadın, 1937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SEQ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</a:t>
            </a:r>
            <a:r>
              <a:rPr lang="en-US" sz="1100" kern="0" spc="3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sanatın yolunu açan adam</a:t>
            </a:r>
            <a:endParaRPr lang="en-US" sz="3600" dirty="0"/>
          </a:p>
        </p:txBody>
      </p:sp>
      <p:sp>
        <p:nvSpPr>
          <p:cNvPr id="4" name="a1_r0"/>
          <p:cNvSpPr/>
          <p:nvPr/>
        </p:nvSpPr>
        <p:spPr>
          <a:xfrm>
            <a:off x="640080" y="187452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a1_n0"/>
          <p:cNvSpPr txBox="1"/>
          <p:nvPr/>
        </p:nvSpPr>
        <p:spPr>
          <a:xfrm>
            <a:off x="640080" y="21031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50.000+</a:t>
            </a:r>
            <a:endParaRPr lang="en-US" sz="7200" dirty="0"/>
          </a:p>
        </p:txBody>
      </p:sp>
      <p:sp>
        <p:nvSpPr>
          <p:cNvPr id="6" name="a1_l0"/>
          <p:cNvSpPr txBox="1"/>
          <p:nvPr/>
        </p:nvSpPr>
        <p:spPr>
          <a:xfrm>
            <a:off x="6400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eser: resim, heykel, seramik, çizim ve baskı</a:t>
            </a:r>
            <a:endParaRPr lang="en-US" sz="1500" dirty="0"/>
          </a:p>
        </p:txBody>
      </p:sp>
      <p:sp>
        <p:nvSpPr>
          <p:cNvPr id="7" name="a2_r1"/>
          <p:cNvSpPr/>
          <p:nvPr/>
        </p:nvSpPr>
        <p:spPr>
          <a:xfrm>
            <a:off x="4370832" y="187452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a2_n1"/>
          <p:cNvSpPr txBox="1"/>
          <p:nvPr/>
        </p:nvSpPr>
        <p:spPr>
          <a:xfrm>
            <a:off x="4370832" y="21031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7200" dirty="0"/>
          </a:p>
        </p:txBody>
      </p:sp>
      <p:sp>
        <p:nvSpPr>
          <p:cNvPr id="9" name="a2_l1"/>
          <p:cNvSpPr txBox="1"/>
          <p:nvPr/>
        </p:nvSpPr>
        <p:spPr>
          <a:xfrm>
            <a:off x="4370832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bir ömür</a:t>
            </a:r>
            <a:endParaRPr lang="en-US" sz="1500" dirty="0"/>
          </a:p>
        </p:txBody>
      </p:sp>
      <p:sp>
        <p:nvSpPr>
          <p:cNvPr id="10" name="a3_r2"/>
          <p:cNvSpPr/>
          <p:nvPr/>
        </p:nvSpPr>
        <p:spPr>
          <a:xfrm>
            <a:off x="8101584" y="187452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a3_n2"/>
          <p:cNvSpPr txBox="1"/>
          <p:nvPr/>
        </p:nvSpPr>
        <p:spPr>
          <a:xfrm>
            <a:off x="8101584" y="21031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7200" dirty="0"/>
          </a:p>
        </p:txBody>
      </p:sp>
      <p:sp>
        <p:nvSpPr>
          <p:cNvPr id="12" name="a3_l2"/>
          <p:cNvSpPr txBox="1"/>
          <p:nvPr/>
        </p:nvSpPr>
        <p:spPr>
          <a:xfrm>
            <a:off x="8101584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 boyunca kesintisiz üretim</a:t>
            </a:r>
            <a:endParaRPr lang="en-US" sz="1500" dirty="0"/>
          </a:p>
        </p:txBody>
      </p:sp>
      <p:sp>
        <p:nvSpPr>
          <p:cNvPr id="13" name="a4_h0"/>
          <p:cNvSpPr txBox="1"/>
          <p:nvPr/>
        </p:nvSpPr>
        <p:spPr>
          <a:xfrm>
            <a:off x="640080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bir kırılma</a:t>
            </a:r>
            <a:endParaRPr lang="en-US" sz="1700" dirty="0"/>
          </a:p>
        </p:txBody>
      </p:sp>
      <p:sp>
        <p:nvSpPr>
          <p:cNvPr id="14" name="a4_d0"/>
          <p:cNvSpPr txBox="1"/>
          <p:nvPr/>
        </p:nvSpPr>
        <p:spPr>
          <a:xfrm>
            <a:off x="640080" y="4937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Kübizm ile resim tarihinin en köklü kuralı olan tek bakış açılı perspektifi yıktı.</a:t>
            </a:r>
            <a:endParaRPr lang="en-US" sz="1600" dirty="0"/>
          </a:p>
        </p:txBody>
      </p:sp>
      <p:sp>
        <p:nvSpPr>
          <p:cNvPr id="15" name="a5_h1"/>
          <p:cNvSpPr txBox="1"/>
          <p:nvPr/>
        </p:nvSpPr>
        <p:spPr>
          <a:xfrm>
            <a:off x="4370832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Açtığı yol</a:t>
            </a:r>
            <a:endParaRPr lang="en-US" sz="1700" dirty="0"/>
          </a:p>
        </p:txBody>
      </p:sp>
      <p:sp>
        <p:nvSpPr>
          <p:cNvPr id="16" name="a5_d1"/>
          <p:cNvSpPr txBox="1"/>
          <p:nvPr/>
        </p:nvSpPr>
        <p:spPr>
          <a:xfrm>
            <a:off x="4370832" y="4937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Soyut sanat, kolaj ve sonraki birçok akım onun açtığı yoldan yürüdü.</a:t>
            </a:r>
            <a:endParaRPr lang="en-US" sz="1600" dirty="0"/>
          </a:p>
        </p:txBody>
      </p:sp>
      <p:sp>
        <p:nvSpPr>
          <p:cNvPr id="17" name="a6_h2"/>
          <p:cNvSpPr txBox="1"/>
          <p:nvPr/>
        </p:nvSpPr>
        <p:spPr>
          <a:xfrm>
            <a:off x="8101584" y="4526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700" dirty="0"/>
          </a:p>
        </p:txBody>
      </p:sp>
      <p:sp>
        <p:nvSpPr>
          <p:cNvPr id="18" name="a6_d2"/>
          <p:cNvSpPr txBox="1"/>
          <p:nvPr/>
        </p:nvSpPr>
        <p:spPr>
          <a:xfrm>
            <a:off x="8101584" y="4937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Eserleri MoMA, Tate, Reina Sofía ve Paris Picasso Müzesi gibi müzelerde sergileniyor.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Picasso'dan dört söz</a:t>
            </a:r>
            <a:endParaRPr lang="en-US" sz="3600" dirty="0"/>
          </a:p>
        </p:txBody>
      </p:sp>
      <p:sp>
        <p:nvSpPr>
          <p:cNvPr id="30" name="soz_1"/>
          <p:cNvSpPr txBox="1"/>
          <p:nvPr/>
        </p:nvSpPr>
        <p:spPr>
          <a:xfrm>
            <a:off x="640080" y="22860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tr-TR" sz="13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BAKIŞ AÇISI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tr-TR" sz="32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“Başkaları var olana baktı ve ‘neden?’ diye sordu. Ben olabileceklere baktım ve ‘neden olmasın?’ diye sordum.”</a:t>
            </a:r>
          </a:p>
          <a:p>
            <a:pPr marL="0" indent="0">
              <a:buNone/>
            </a:pPr>
            <a:r>
              <a:rPr lang="tr-TR" sz="14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PICASSO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Picasso'dan dört söz</a:t>
            </a:r>
            <a:endParaRPr lang="en-US" sz="3600" dirty="0"/>
          </a:p>
        </p:txBody>
      </p:sp>
      <p:sp>
        <p:nvSpPr>
          <p:cNvPr id="31" name="soz_2"/>
          <p:cNvSpPr txBox="1"/>
          <p:nvPr/>
        </p:nvSpPr>
        <p:spPr>
          <a:xfrm>
            <a:off x="640080" y="22860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tr-TR" sz="13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GELİŞİM VE ÖĞRENME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tr-TR" sz="32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“Her zaman henüz yapamadığım şeyleri yapıyorum, sırf onları nasıl yapacağımı öğrenebilmek için.”</a:t>
            </a:r>
          </a:p>
          <a:p>
            <a:pPr marL="0" indent="0">
              <a:buNone/>
            </a:pPr>
            <a:r>
              <a:rPr lang="tr-TR" sz="14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PICASSO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Picasso'dan dört söz</a:t>
            </a:r>
            <a:endParaRPr lang="en-US" sz="3600" dirty="0"/>
          </a:p>
        </p:txBody>
      </p:sp>
      <p:sp>
        <p:nvSpPr>
          <p:cNvPr id="32" name="soz_3"/>
          <p:cNvSpPr txBox="1"/>
          <p:nvPr/>
        </p:nvSpPr>
        <p:spPr>
          <a:xfrm>
            <a:off x="640080" y="22860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tr-TR" sz="13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YAŞAMIN AMACI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tr-TR" sz="32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“Hayatın anlamı yeteneğinizi bulmaktır. Hayatın amacı ise onu başkalarına sunmaktır.”</a:t>
            </a:r>
          </a:p>
          <a:p>
            <a:pPr marL="0" indent="0">
              <a:buNone/>
            </a:pPr>
            <a:r>
              <a:rPr lang="tr-TR" sz="14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PICASSO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</a:t>
            </a:r>
            <a:r>
              <a:rPr lang="en-US" sz="1100" kern="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SÖZLER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Picasso'dan dört söz</a:t>
            </a:r>
            <a:endParaRPr lang="en-US" sz="3600" dirty="0"/>
          </a:p>
        </p:txBody>
      </p:sp>
      <p:sp>
        <p:nvSpPr>
          <p:cNvPr id="33" name="soz_4"/>
          <p:cNvSpPr txBox="1"/>
          <p:nvPr/>
        </p:nvSpPr>
        <p:spPr>
          <a:xfrm>
            <a:off x="640080" y="228600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tr-TR" sz="13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İÇİMİZDEKİ POTANSİYEL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tr-TR" sz="32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“Her çocuk bir sanatçıdır. Sorun, büyüdükten sonra da sanatçı olarak kalabilmektir.”</a:t>
            </a:r>
          </a:p>
          <a:p>
            <a:pPr marL="0" indent="0">
              <a:buNone/>
            </a:pPr>
            <a:r>
              <a:rPr lang="tr-TR" sz="1400" spc="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PICASSO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0_img" descr="/home/claude/m2/mus_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3" name="a0_t"/>
          <p:cNvSpPr txBox="1"/>
          <p:nvPr/>
        </p:nvSpPr>
        <p:spPr>
          <a:xfrm>
            <a:off x="68580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7200" dirty="0"/>
          </a:p>
        </p:txBody>
      </p:sp>
      <p:sp>
        <p:nvSpPr>
          <p:cNvPr id="4" name="a1_s"/>
          <p:cNvSpPr txBox="1"/>
          <p:nvPr/>
        </p:nvSpPr>
        <p:spPr>
          <a:xfrm>
            <a:off x="73152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Dinlediğiniz için teşekkür ederim. Sorularınızı bekliyorum.</a:t>
            </a:r>
            <a:endParaRPr lang="en-US" sz="2000" dirty="0"/>
          </a:p>
        </p:txBody>
      </p:sp>
      <p:sp>
        <p:nvSpPr>
          <p:cNvPr id="5" name="a2_kh"/>
          <p:cNvSpPr txBox="1"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en-US" sz="1100" dirty="0"/>
          </a:p>
        </p:txBody>
      </p:sp>
      <p:sp>
        <p:nvSpPr>
          <p:cNvPr id="6" name="a2_src"/>
          <p:cNvSpPr txBox="1"/>
          <p:nvPr/>
        </p:nvSpPr>
        <p:spPr>
          <a:xfrm>
            <a:off x="731520" y="42976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of Modern Art (MoMA), New York · moma.org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Tate Modern, Londra · tate.org.uk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Institute of Chicago · artic.edu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Museo Reina Sofía, Madrid · museoreinasofia.es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kaynakları: topofart.com ve Artistic Akshay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Picasso Katalog">
  <a:themeElements>
    <a:clrScheme name="Picasso Katalog">
      <a:dk1>
        <a:srgbClr val="171717"/>
      </a:dk1>
      <a:lt1>
        <a:srgbClr val="FAFAF8"/>
      </a:lt1>
      <a:dk2>
        <a:srgbClr val="111111"/>
      </a:dk2>
      <a:lt2>
        <a:srgbClr val="E9E6E0"/>
      </a:lt2>
      <a:accent1>
        <a:srgbClr val="B23A2B"/>
      </a:accent1>
      <a:accent2>
        <a:srgbClr val="6F6A63"/>
      </a:accent2>
      <a:accent3>
        <a:srgbClr val="D8D4CD"/>
      </a:accent3>
      <a:accent4>
        <a:srgbClr val="9A958D"/>
      </a:accent4>
      <a:accent5>
        <a:srgbClr val="2B2B2B"/>
      </a:accent5>
      <a:accent6>
        <a:srgbClr val="3A3A3A"/>
      </a:accent6>
      <a:hlink>
        <a:srgbClr val="B23A2B"/>
      </a:hlink>
      <a:folHlink>
        <a:srgbClr val="6F6A63"/>
      </a:folHlink>
    </a:clrScheme>
    <a:fontScheme name="Picasso Katalo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Picasso Katalog</vt:lpstr>
      <vt:lpstr>PowerPoint Presentation</vt:lpstr>
      <vt:lpstr>Picasso kimdir?</vt:lpstr>
      <vt:lpstr>Değişen bir dünyada sanat</vt:lpstr>
      <vt:lpstr>Picasso'yu besleyenler</vt:lpstr>
      <vt:lpstr>PowerPoint Presentation</vt:lpstr>
      <vt:lpstr>Yetmiş yılda yedi farklı Picasso</vt:lpstr>
      <vt:lpstr>Her yönden aynı anda bakmak</vt:lpstr>
      <vt:lpstr>Sadece bir ressam değil</vt:lpstr>
      <vt:lpstr>Beş başyapıt</vt:lpstr>
      <vt:lpstr>Guernica, 1937</vt:lpstr>
      <vt:lpstr>PowerPoint Presentation</vt:lpstr>
      <vt:lpstr>PowerPoint Presentation</vt:lpstr>
      <vt:lpstr>Modern sanatın yolunu açan adam</vt:lpstr>
      <vt:lpstr>Picasso'dan dört söz</vt:lpstr>
      <vt:lpstr>Picasso'dan dört söz</vt:lpstr>
      <vt:lpstr>Picasso'dan dört söz</vt:lpstr>
      <vt:lpstr>Picasso'dan dört söz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Pablo Picasso</dc:title>
  <dc:subject>PptxGenJS Presentation</dc:subject>
  <dc:creator>PptxGenJS</dc:creator>
  <cp:lastModifiedBy>PptxGenJS</cp:lastModifiedBy>
  <cp:revision>5</cp:revision>
  <dcterms:created xsi:type="dcterms:W3CDTF">2026-10-06T17:43:44Z</dcterms:created>
  <dcterms:modified xsi:type="dcterms:W3CDTF">2026-10-13T18:07:27Z</dcterms:modified>
</cp:coreProperties>
</file>